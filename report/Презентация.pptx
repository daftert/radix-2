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8"/>
  </p:notesMasterIdLst>
  <p:sldIdLst>
    <p:sldId id="868" r:id="rId2"/>
    <p:sldId id="869" r:id="rId3"/>
    <p:sldId id="870" r:id="rId4"/>
    <p:sldId id="871" r:id="rId5"/>
    <p:sldId id="872" r:id="rId6"/>
    <p:sldId id="873" r:id="rId7"/>
    <p:sldId id="874" r:id="rId8"/>
    <p:sldId id="875" r:id="rId9"/>
    <p:sldId id="876" r:id="rId10"/>
    <p:sldId id="877" r:id="rId11"/>
    <p:sldId id="881" r:id="rId12"/>
    <p:sldId id="880" r:id="rId13"/>
    <p:sldId id="882" r:id="rId14"/>
    <p:sldId id="883" r:id="rId15"/>
    <p:sldId id="884" r:id="rId16"/>
    <p:sldId id="885" r:id="rId17"/>
    <p:sldId id="886" r:id="rId18"/>
    <p:sldId id="887" r:id="rId19"/>
    <p:sldId id="888" r:id="rId20"/>
    <p:sldId id="891" r:id="rId21"/>
    <p:sldId id="890" r:id="rId22"/>
    <p:sldId id="889" r:id="rId23"/>
    <p:sldId id="892" r:id="rId24"/>
    <p:sldId id="893" r:id="rId25"/>
    <p:sldId id="895" r:id="rId26"/>
    <p:sldId id="894" r:id="rId27"/>
  </p:sldIdLst>
  <p:sldSz cx="12192000" cy="6858000"/>
  <p:notesSz cx="6858000" cy="9144000"/>
  <p:embeddedFontLst>
    <p:embeddedFont>
      <p:font typeface="Cambria Math" panose="02040503050406030204" pitchFamily="18" charset="0"/>
      <p:regular r:id="rId29"/>
    </p:embeddedFont>
    <p:embeddedFont>
      <p:font typeface="Consolas" panose="020B0609020204030204" pitchFamily="49" charset="0"/>
      <p:regular r:id="rId30"/>
      <p:bold r:id="rId31"/>
      <p:italic r:id="rId32"/>
      <p:boldItalic r:id="rId33"/>
    </p:embeddedFont>
    <p:embeddedFont>
      <p:font typeface="Futura PT Book" panose="020B0604020202020204" charset="-52"/>
      <p:regular r:id="rId34"/>
    </p:embeddedFont>
    <p:embeddedFont>
      <p:font typeface="Futura PT Light" panose="020B0604020202020204" charset="-52"/>
      <p:regular r:id="rId35"/>
    </p:embeddedFont>
    <p:embeddedFont>
      <p:font typeface="Proxima Nova Extrabold" panose="020B0604020202020204" charset="0"/>
      <p:bold r:id="rId36"/>
      <p:italic r:id="rId37"/>
      <p:boldItalic r:id="rId38"/>
    </p:embeddedFont>
    <p:embeddedFont>
      <p:font typeface="Proxima Nova Extrabold" panose="020B0604020202020204" charset="0"/>
      <p:bold r:id="rId36"/>
      <p:italic r:id="rId37"/>
      <p:boldItalic r:id="rId38"/>
    </p:embeddedFont>
    <p:embeddedFont>
      <p:font typeface="Proxima Nova Rg" panose="02000506030000020004" charset="0"/>
      <p:regular r:id="rId39"/>
      <p:bold r:id="rId40"/>
      <p:italic r:id="rId41"/>
      <p:boldItalic r:id="rId42"/>
    </p:embeddedFont>
    <p:embeddedFont>
      <p:font typeface="Proxima Nova Semibold" panose="020B0604020202020204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77A27ADC-4883-4DFB-B2A3-2B189638DA01}">
          <p14:sldIdLst>
            <p14:sldId id="868"/>
            <p14:sldId id="869"/>
            <p14:sldId id="870"/>
            <p14:sldId id="871"/>
            <p14:sldId id="872"/>
            <p14:sldId id="873"/>
            <p14:sldId id="874"/>
            <p14:sldId id="875"/>
            <p14:sldId id="876"/>
            <p14:sldId id="877"/>
            <p14:sldId id="881"/>
            <p14:sldId id="880"/>
            <p14:sldId id="882"/>
            <p14:sldId id="883"/>
            <p14:sldId id="884"/>
            <p14:sldId id="885"/>
            <p14:sldId id="886"/>
            <p14:sldId id="887"/>
            <p14:sldId id="888"/>
            <p14:sldId id="891"/>
            <p14:sldId id="890"/>
            <p14:sldId id="889"/>
            <p14:sldId id="892"/>
            <p14:sldId id="893"/>
          </p14:sldIdLst>
        </p14:section>
        <p14:section name="Заметки" id="{4C3A7F76-C91C-4730-92A7-23DFD4F9EDFC}">
          <p14:sldIdLst>
            <p14:sldId id="895"/>
            <p14:sldId id="894"/>
          </p14:sldIdLst>
        </p14:section>
      </p14:sectionLst>
    </p:ext>
    <p:ext uri="{EFAFB233-063F-42B5-8137-9DF3F51BA10A}">
      <p15:sldGuideLst xmlns:p15="http://schemas.microsoft.com/office/powerpoint/2012/main">
        <p15:guide id="1" pos="7197" userDrawn="1">
          <p15:clr>
            <a:srgbClr val="A4A3A4"/>
          </p15:clr>
        </p15:guide>
        <p15:guide id="2" orient="horz" pos="527" userDrawn="1">
          <p15:clr>
            <a:srgbClr val="A4A3A4"/>
          </p15:clr>
        </p15:guide>
        <p15:guide id="3" pos="415" userDrawn="1">
          <p15:clr>
            <a:srgbClr val="A4A3A4"/>
          </p15:clr>
        </p15:guide>
        <p15:guide id="4" orient="horz" pos="3838" userDrawn="1">
          <p15:clr>
            <a:srgbClr val="A4A3A4"/>
          </p15:clr>
        </p15:guide>
        <p15:guide id="5" orient="horz" pos="34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E54F40"/>
    <a:srgbClr val="AFABAB"/>
    <a:srgbClr val="E44F41"/>
    <a:srgbClr val="EFECE7"/>
    <a:srgbClr val="DFD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7"/>
    <p:restoredTop sz="94676"/>
  </p:normalViewPr>
  <p:slideViewPr>
    <p:cSldViewPr snapToGrid="0">
      <p:cViewPr>
        <p:scale>
          <a:sx n="75" d="100"/>
          <a:sy n="75" d="100"/>
        </p:scale>
        <p:origin x="883" y="120"/>
      </p:cViewPr>
      <p:guideLst>
        <p:guide pos="7197"/>
        <p:guide orient="horz" pos="527"/>
        <p:guide pos="415"/>
        <p:guide orient="horz" pos="3838"/>
        <p:guide orient="horz" pos="34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font" Target="fonts/font2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font" Target="fonts/font20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98ACC3-77CD-FD40-AD9F-0167B0F756C3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455A-9653-BD42-A974-E6BF3252B6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72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916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847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28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473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622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187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16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391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00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980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605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455A-9653-BD42-A974-E6BF3252B63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58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ктором">
    <p:bg>
      <p:bgPr>
        <a:solidFill>
          <a:srgbClr val="EFE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63AE2D-0EBC-3CEB-BDD3-5B9DC7B609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4263" y="2481744"/>
            <a:ext cx="1894513" cy="18945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A660FA-8669-E9E6-BD3C-3489907CC001}"/>
              </a:ext>
            </a:extLst>
          </p:cNvPr>
          <p:cNvSpPr txBox="1"/>
          <p:nvPr userDrawn="1"/>
        </p:nvSpPr>
        <p:spPr>
          <a:xfrm>
            <a:off x="3720158" y="3259723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Proxima Nova Extrabold" panose="02000506030000020004" pitchFamily="2" charset="0"/>
              </a:rPr>
              <a:t>Ваше фото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E3E918CC-D851-FD23-7983-38C28AD873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67590" y="2829675"/>
            <a:ext cx="454692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chemeClr val="tx1"/>
                </a:solidFill>
                <a:latin typeface="Proxima Nova Semibold" panose="02000506030000020004" pitchFamily="2" charset="0"/>
              </a:defRPr>
            </a:lvl1pPr>
          </a:lstStyle>
          <a:p>
            <a:pPr lvl="0"/>
            <a:r>
              <a:rPr lang="ru-RU" dirty="0"/>
              <a:t>Александр Силантьев</a:t>
            </a:r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A086E403-F16D-6ADB-8BE8-412C9553A4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67590" y="3209439"/>
            <a:ext cx="454692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 b="1" i="0">
                <a:solidFill>
                  <a:srgbClr val="E44F41"/>
                </a:solidFill>
                <a:latin typeface="Proxima Nova Semibold" panose="02000506030000020004" pitchFamily="2" charset="0"/>
              </a:defRPr>
            </a:lvl1pPr>
          </a:lstStyle>
          <a:p>
            <a:pPr lvl="0"/>
            <a:r>
              <a:rPr lang="ru-RU" dirty="0"/>
              <a:t>Преподаватель МИЭТ</a:t>
            </a:r>
          </a:p>
        </p:txBody>
      </p:sp>
      <p:sp>
        <p:nvSpPr>
          <p:cNvPr id="20" name="Текст 17">
            <a:extLst>
              <a:ext uri="{FF2B5EF4-FFF2-40B4-BE49-F238E27FC236}">
                <a16:creationId xmlns:a16="http://schemas.microsoft.com/office/drawing/2014/main" id="{12A45A41-4BD6-907A-3133-9DB49D162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67590" y="3785443"/>
            <a:ext cx="454692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Proxima Nova Rg" panose="02000506030000020004" pitchFamily="2" charset="0"/>
              </a:defRPr>
            </a:lvl1pPr>
          </a:lstStyle>
          <a:p>
            <a:pPr lvl="0"/>
            <a:r>
              <a:rPr lang="ru-RU" dirty="0"/>
              <a:t>Информация из биографии</a:t>
            </a:r>
          </a:p>
        </p:txBody>
      </p:sp>
    </p:spTree>
    <p:extLst>
      <p:ext uri="{BB962C8B-B14F-4D97-AF65-F5344CB8AC3E}">
        <p14:creationId xmlns:p14="http://schemas.microsoft.com/office/powerpoint/2010/main" val="3796588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слайд с изображ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78">
            <a:extLst>
              <a:ext uri="{FF2B5EF4-FFF2-40B4-BE49-F238E27FC236}">
                <a16:creationId xmlns:a16="http://schemas.microsoft.com/office/drawing/2014/main" id="{4DD06F7F-91E2-03C5-5C24-E7B3A146D0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4564" y="747540"/>
            <a:ext cx="7176305" cy="3237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2800" b="0" i="0">
                <a:solidFill>
                  <a:schemeClr val="tx1"/>
                </a:solidFill>
                <a:latin typeface="PROXIMA NOVA EXTRABOLD" panose="02000506030000020004" pitchFamily="2" charset="0"/>
              </a:defRPr>
            </a:lvl1pPr>
            <a:lvl2pPr marL="457154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2pPr>
            <a:lvl3pPr marL="914309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3pPr>
            <a:lvl4pPr marL="1371462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4pPr>
            <a:lvl5pPr marL="1828616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5pPr>
          </a:lstStyle>
          <a:p>
            <a:pPr lvl="0"/>
            <a:r>
              <a:rPr lang="ru-RU" dirty="0"/>
              <a:t>ЗАГОЛОВОК СЛАЙДА</a:t>
            </a:r>
            <a:endParaRPr lang="en-GB" dirty="0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65EF0A71-B3EE-BE4A-B1F7-EC2B93DD9D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000" y="1739414"/>
            <a:ext cx="7176305" cy="43710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0" i="0">
                <a:latin typeface="Proxima Nova Rg" panose="02000506030000020004" pitchFamily="2" charset="0"/>
              </a:defRPr>
            </a:lvl1pPr>
          </a:lstStyle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>
                <a:latin typeface="Proxima Nova Rg" panose="02000506030000020004" pitchFamily="2" charset="0"/>
              </a:rPr>
              <a:t>Lorem ipsum dolor sit </a:t>
            </a:r>
            <a:r>
              <a:rPr lang="en-US" sz="1500" dirty="0" err="1">
                <a:latin typeface="Proxima Nova Rg" panose="02000506030000020004" pitchFamily="2" charset="0"/>
              </a:rPr>
              <a:t>amet</a:t>
            </a:r>
            <a:r>
              <a:rPr lang="en-US" sz="1500" dirty="0">
                <a:latin typeface="Proxima Nova Rg" panose="02000506030000020004" pitchFamily="2" charset="0"/>
              </a:rPr>
              <a:t>, </a:t>
            </a:r>
            <a:r>
              <a:rPr lang="en-US" sz="1500" dirty="0" err="1">
                <a:latin typeface="Proxima Nova Rg" panose="02000506030000020004" pitchFamily="2" charset="0"/>
              </a:rPr>
              <a:t>consectetur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adipiscing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elit</a:t>
            </a:r>
            <a:r>
              <a:rPr lang="en-US" sz="1500" dirty="0">
                <a:latin typeface="Proxima Nova Rg" panose="02000506030000020004" pitchFamily="2" charset="0"/>
              </a:rPr>
              <a:t>. Duis fermentum </a:t>
            </a:r>
            <a:r>
              <a:rPr lang="en-US" sz="1500" dirty="0" err="1">
                <a:latin typeface="Proxima Nova Rg" panose="02000506030000020004" pitchFamily="2" charset="0"/>
              </a:rPr>
              <a:t>faucibus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est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blandit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elit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lobortis</a:t>
            </a:r>
            <a:r>
              <a:rPr lang="en-US" sz="1500" dirty="0">
                <a:latin typeface="Proxima Nova Rg" panose="02000506030000020004" pitchFamily="2" charset="0"/>
              </a:rPr>
              <a:t> non</a:t>
            </a:r>
            <a:r>
              <a:rPr lang="ru-RU" sz="1500" dirty="0">
                <a:latin typeface="Proxima Nova Rg" panose="02000506030000020004" pitchFamily="2" charset="0"/>
              </a:rPr>
              <a:t>.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>
                <a:latin typeface="Proxima Nova Rg" panose="02000506030000020004" pitchFamily="2" charset="0"/>
              </a:rPr>
              <a:t>Proin sed </a:t>
            </a:r>
            <a:r>
              <a:rPr lang="en-US" sz="1500" dirty="0" err="1">
                <a:latin typeface="Proxima Nova Rg" panose="02000506030000020004" pitchFamily="2" charset="0"/>
              </a:rPr>
              <a:t>porttitor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orci</a:t>
            </a:r>
            <a:r>
              <a:rPr lang="en-US" sz="1500" dirty="0">
                <a:latin typeface="Proxima Nova Rg" panose="02000506030000020004" pitchFamily="2" charset="0"/>
              </a:rPr>
              <a:t>. Maecenas </a:t>
            </a:r>
            <a:r>
              <a:rPr lang="en-US" sz="1500" dirty="0" err="1">
                <a:latin typeface="Proxima Nova Rg" panose="02000506030000020004" pitchFamily="2" charset="0"/>
              </a:rPr>
              <a:t>eu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urna</a:t>
            </a:r>
            <a:r>
              <a:rPr lang="en-US" sz="1500" dirty="0">
                <a:latin typeface="Proxima Nova Rg" panose="02000506030000020004" pitchFamily="2" charset="0"/>
              </a:rPr>
              <a:t> et </a:t>
            </a:r>
            <a:r>
              <a:rPr lang="en-US" sz="1500" dirty="0" err="1">
                <a:latin typeface="Proxima Nova Rg" panose="02000506030000020004" pitchFamily="2" charset="0"/>
              </a:rPr>
              <a:t>lacus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molestie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euismod</a:t>
            </a:r>
            <a:r>
              <a:rPr lang="en-US" sz="1500" dirty="0">
                <a:latin typeface="Proxima Nova Rg" panose="02000506030000020004" pitchFamily="2" charset="0"/>
              </a:rPr>
              <a:t> vel et </a:t>
            </a:r>
            <a:r>
              <a:rPr lang="en-US" sz="1500" dirty="0" err="1">
                <a:latin typeface="Proxima Nova Rg" panose="02000506030000020004" pitchFamily="2" charset="0"/>
              </a:rPr>
              <a:t>nibh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  <a:endParaRPr lang="ru-RU" sz="1500" dirty="0">
              <a:latin typeface="Proxima Nova Rg" panose="02000506030000020004" pitchFamily="2" charset="0"/>
            </a:endParaRP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 err="1">
                <a:latin typeface="Proxima Nova Rg" panose="02000506030000020004" pitchFamily="2" charset="0"/>
              </a:rPr>
              <a:t>Praesent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vehicula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dignissim</a:t>
            </a:r>
            <a:r>
              <a:rPr lang="en-US" sz="1500" dirty="0">
                <a:latin typeface="Proxima Nova Rg" panose="02000506030000020004" pitchFamily="2" charset="0"/>
              </a:rPr>
              <a:t> mi sed </a:t>
            </a:r>
            <a:r>
              <a:rPr lang="en-US" sz="1500" dirty="0" err="1">
                <a:latin typeface="Proxima Nova Rg" panose="02000506030000020004" pitchFamily="2" charset="0"/>
              </a:rPr>
              <a:t>augue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hendrerit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varius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mattis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  <a:endParaRPr lang="ru-RU" sz="1500" dirty="0">
              <a:latin typeface="Proxima Nova Rg" panose="02000506030000020004" pitchFamily="2" charset="0"/>
            </a:endParaRP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>
                <a:latin typeface="Proxima Nova Rg" panose="02000506030000020004" pitchFamily="2" charset="0"/>
              </a:rPr>
              <a:t>Lorem ipsum dolor sit </a:t>
            </a:r>
            <a:r>
              <a:rPr lang="en-US" sz="1500" dirty="0" err="1">
                <a:latin typeface="Proxima Nova Rg" panose="02000506030000020004" pitchFamily="2" charset="0"/>
              </a:rPr>
              <a:t>amet</a:t>
            </a:r>
            <a:r>
              <a:rPr lang="en-US" sz="1500" dirty="0">
                <a:latin typeface="Proxima Nova Rg" panose="02000506030000020004" pitchFamily="2" charset="0"/>
              </a:rPr>
              <a:t>, </a:t>
            </a:r>
            <a:r>
              <a:rPr lang="en-US" sz="1500" dirty="0" err="1">
                <a:latin typeface="Proxima Nova Rg" panose="02000506030000020004" pitchFamily="2" charset="0"/>
              </a:rPr>
              <a:t>consectetur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adipiscing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elit</a:t>
            </a:r>
            <a:r>
              <a:rPr lang="en-US" sz="1500" dirty="0">
                <a:latin typeface="Proxima Nova Rg" panose="02000506030000020004" pitchFamily="2" charset="0"/>
              </a:rPr>
              <a:t>. Duis fermentum </a:t>
            </a:r>
            <a:r>
              <a:rPr lang="en-US" sz="1500" dirty="0" err="1">
                <a:latin typeface="Proxima Nova Rg" panose="02000506030000020004" pitchFamily="2" charset="0"/>
              </a:rPr>
              <a:t>faucibus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est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blandit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elit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lobortis</a:t>
            </a:r>
            <a:r>
              <a:rPr lang="en-US" sz="1500" dirty="0">
                <a:latin typeface="Proxima Nova Rg" panose="02000506030000020004" pitchFamily="2" charset="0"/>
              </a:rPr>
              <a:t> non</a:t>
            </a:r>
            <a:r>
              <a:rPr lang="ru-RU" sz="1500" dirty="0">
                <a:latin typeface="Proxima Nova Rg" panose="02000506030000020004" pitchFamily="2" charset="0"/>
              </a:rPr>
              <a:t>.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>
                <a:latin typeface="Proxima Nova Rg" panose="02000506030000020004" pitchFamily="2" charset="0"/>
              </a:rPr>
              <a:t>Proin sed </a:t>
            </a:r>
            <a:r>
              <a:rPr lang="en-US" sz="1500" dirty="0" err="1">
                <a:latin typeface="Proxima Nova Rg" panose="02000506030000020004" pitchFamily="2" charset="0"/>
              </a:rPr>
              <a:t>porttitor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orci</a:t>
            </a:r>
            <a:r>
              <a:rPr lang="en-US" sz="1500" dirty="0">
                <a:latin typeface="Proxima Nova Rg" panose="02000506030000020004" pitchFamily="2" charset="0"/>
              </a:rPr>
              <a:t>. Maecenas </a:t>
            </a:r>
            <a:r>
              <a:rPr lang="en-US" sz="1500" dirty="0" err="1">
                <a:latin typeface="Proxima Nova Rg" panose="02000506030000020004" pitchFamily="2" charset="0"/>
              </a:rPr>
              <a:t>eu</a:t>
            </a:r>
            <a:r>
              <a:rPr lang="en-US" sz="1500" dirty="0">
                <a:latin typeface="Proxima Nova Rg" panose="02000506030000020004" pitchFamily="2" charset="0"/>
              </a:rPr>
              <a:t> et </a:t>
            </a:r>
            <a:r>
              <a:rPr lang="en-US" sz="1500" dirty="0" err="1">
                <a:latin typeface="Proxima Nova Rg" panose="02000506030000020004" pitchFamily="2" charset="0"/>
              </a:rPr>
              <a:t>lacus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molestie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euismod</a:t>
            </a:r>
            <a:r>
              <a:rPr lang="en-US" sz="1500" dirty="0">
                <a:latin typeface="Proxima Nova Rg" panose="02000506030000020004" pitchFamily="2" charset="0"/>
              </a:rPr>
              <a:t> vel et </a:t>
            </a:r>
            <a:r>
              <a:rPr lang="en-US" sz="1500" dirty="0" err="1">
                <a:latin typeface="Proxima Nova Rg" panose="02000506030000020004" pitchFamily="2" charset="0"/>
              </a:rPr>
              <a:t>nibh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 err="1">
                <a:latin typeface="Proxima Nova Rg" panose="02000506030000020004" pitchFamily="2" charset="0"/>
              </a:rPr>
              <a:t>Praesent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aliquam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vehicula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dignissim</a:t>
            </a:r>
            <a:r>
              <a:rPr lang="en-US" sz="1500" dirty="0">
                <a:latin typeface="Proxima Nova Rg" panose="02000506030000020004" pitchFamily="2" charset="0"/>
              </a:rPr>
              <a:t> mi sed </a:t>
            </a:r>
            <a:r>
              <a:rPr lang="en-US" sz="1500" dirty="0" err="1">
                <a:latin typeface="Proxima Nova Rg" panose="02000506030000020004" pitchFamily="2" charset="0"/>
              </a:rPr>
              <a:t>augue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hendrerit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varius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turpis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mattis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  <a:endParaRPr lang="ru-RU" sz="1500" dirty="0">
              <a:latin typeface="Proxima Nova Rg" panose="02000506030000020004" pitchFamily="2" charset="0"/>
            </a:endParaRP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 err="1">
                <a:latin typeface="Proxima Nova Rg" panose="02000506030000020004" pitchFamily="2" charset="0"/>
              </a:rPr>
              <a:t>Praesent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aliquam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dignissim</a:t>
            </a:r>
            <a:r>
              <a:rPr lang="en-US" sz="1500" dirty="0">
                <a:latin typeface="Proxima Nova Rg" panose="02000506030000020004" pitchFamily="2" charset="0"/>
              </a:rPr>
              <a:t> mi sed </a:t>
            </a:r>
            <a:r>
              <a:rPr lang="en-US" sz="1500" dirty="0" err="1">
                <a:latin typeface="Proxima Nova Rg" panose="02000506030000020004" pitchFamily="2" charset="0"/>
              </a:rPr>
              <a:t>augue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hendrerit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varius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turpis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mattis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  <a:endParaRPr lang="ru-RU" sz="1350" dirty="0">
              <a:latin typeface="Futura PT Light"/>
            </a:endParaRPr>
          </a:p>
          <a:p>
            <a:pPr lvl="0"/>
            <a:endParaRPr lang="ru-RU" dirty="0"/>
          </a:p>
        </p:txBody>
      </p:sp>
      <p:pic>
        <p:nvPicPr>
          <p:cNvPr id="7" name="Рисунок 4">
            <a:extLst>
              <a:ext uri="{FF2B5EF4-FFF2-40B4-BE49-F238E27FC236}">
                <a16:creationId xmlns:a16="http://schemas.microsoft.com/office/drawing/2014/main" id="{8CC441E6-F6F9-0442-956C-87AE8C459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535" r="66364"/>
          <a:stretch/>
        </p:blipFill>
        <p:spPr>
          <a:xfrm>
            <a:off x="8447964" y="0"/>
            <a:ext cx="3744036" cy="6858000"/>
          </a:xfrm>
          <a:prstGeom prst="rect">
            <a:avLst/>
          </a:prstGeom>
          <a:effectLst>
            <a:innerShdw blurRad="1270000" dist="346633" dir="6310269">
              <a:prstClr val="black">
                <a:alpha val="80178"/>
              </a:prstClr>
            </a:innerShdw>
          </a:effectLst>
        </p:spPr>
      </p:pic>
      <p:sp>
        <p:nvSpPr>
          <p:cNvPr id="3" name="Текст 78">
            <a:extLst>
              <a:ext uri="{FF2B5EF4-FFF2-40B4-BE49-F238E27FC236}">
                <a16:creationId xmlns:a16="http://schemas.microsoft.com/office/drawing/2014/main" id="{C9364522-895D-1BC9-9117-8CF5E8A25F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714" y="471363"/>
            <a:ext cx="7165155" cy="16979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FontTx/>
              <a:buNone/>
              <a:defRPr sz="1200" b="0" i="0">
                <a:solidFill>
                  <a:srgbClr val="AFABAB"/>
                </a:solidFill>
                <a:latin typeface="Proxima Nova Rg" panose="02000506030000020004" pitchFamily="2" charset="0"/>
              </a:defRPr>
            </a:lvl1pPr>
            <a:lvl2pPr marL="457154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2pPr>
            <a:lvl3pPr marL="914309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3pPr>
            <a:lvl4pPr marL="1371462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4pPr>
            <a:lvl5pPr marL="1828616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5pPr>
          </a:lstStyle>
          <a:p>
            <a:pPr lvl="0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ЩЕЛКНИТЕ, ЧТОБЫ ОТРЕДАКТИРОВАТЬ ТЕКСТ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E03E5A-D446-5E40-816C-6DBD7FB9E0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32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78">
            <a:extLst>
              <a:ext uri="{FF2B5EF4-FFF2-40B4-BE49-F238E27FC236}">
                <a16:creationId xmlns:a16="http://schemas.microsoft.com/office/drawing/2014/main" id="{38E76390-35AC-4FE3-D2EE-08F0E6B51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714" y="471363"/>
            <a:ext cx="10047869" cy="16979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>
              <a:buFontTx/>
              <a:buNone/>
              <a:defRPr sz="1200" b="0" i="0">
                <a:solidFill>
                  <a:srgbClr val="AFABAB"/>
                </a:solidFill>
                <a:latin typeface="Proxima Nova Rg" panose="02000506030000020004" pitchFamily="2" charset="0"/>
              </a:defRPr>
            </a:lvl1pPr>
            <a:lvl2pPr marL="457154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2pPr>
            <a:lvl3pPr marL="914309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3pPr>
            <a:lvl4pPr marL="1371462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4pPr>
            <a:lvl5pPr marL="1828616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5pPr>
          </a:lstStyle>
          <a:p>
            <a:pPr lvl="0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ЩЕЛКНИТЕ, ЧТОБЫ ОТРЕДАКТИРОВАТЬ ТЕКСТ</a:t>
            </a:r>
            <a:endParaRPr lang="en-GB" dirty="0"/>
          </a:p>
        </p:txBody>
      </p:sp>
      <p:sp>
        <p:nvSpPr>
          <p:cNvPr id="5" name="Текст 78">
            <a:extLst>
              <a:ext uri="{FF2B5EF4-FFF2-40B4-BE49-F238E27FC236}">
                <a16:creationId xmlns:a16="http://schemas.microsoft.com/office/drawing/2014/main" id="{BF5A557E-C10A-F408-AF40-E3FA90BADD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4564" y="747540"/>
            <a:ext cx="10059020" cy="3237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Tx/>
              <a:buNone/>
              <a:defRPr sz="2800" b="0" i="0">
                <a:solidFill>
                  <a:schemeClr val="tx1"/>
                </a:solidFill>
                <a:latin typeface="PROXIMA NOVA EXTRABOLD" panose="02000506030000020004" pitchFamily="2" charset="0"/>
              </a:defRPr>
            </a:lvl1pPr>
            <a:lvl2pPr marL="457154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2pPr>
            <a:lvl3pPr marL="914309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3pPr>
            <a:lvl4pPr marL="1371462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4pPr>
            <a:lvl5pPr marL="1828616" indent="0">
              <a:buFontTx/>
              <a:buNone/>
              <a:defRPr sz="3599">
                <a:solidFill>
                  <a:srgbClr val="1E22AA"/>
                </a:solidFill>
                <a:latin typeface="Futura PT Book" panose="020B0502020204020303" pitchFamily="34" charset="-52"/>
              </a:defRPr>
            </a:lvl5pPr>
          </a:lstStyle>
          <a:p>
            <a:pPr lvl="0"/>
            <a:r>
              <a:rPr lang="ru-RU" dirty="0"/>
              <a:t>ЗАГОЛОВОК СЛАЙДА</a:t>
            </a:r>
            <a:endParaRPr lang="en-GB" dirty="0"/>
          </a:p>
        </p:txBody>
      </p:sp>
      <p:sp>
        <p:nvSpPr>
          <p:cNvPr id="6" name="Текст 28">
            <a:extLst>
              <a:ext uri="{FF2B5EF4-FFF2-40B4-BE49-F238E27FC236}">
                <a16:creationId xmlns:a16="http://schemas.microsoft.com/office/drawing/2014/main" id="{67090BD0-28DA-51EF-3A36-2CBA796A63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5000" y="1739414"/>
            <a:ext cx="10059020" cy="3568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0" i="0">
                <a:latin typeface="Proxima Nova Rg" panose="02000506030000020004" pitchFamily="2" charset="0"/>
              </a:defRPr>
            </a:lvl1pPr>
          </a:lstStyle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>
                <a:latin typeface="Proxima Nova Rg" panose="02000506030000020004" pitchFamily="2" charset="0"/>
              </a:rPr>
              <a:t>Lorem ipsum dolor sit </a:t>
            </a:r>
            <a:r>
              <a:rPr lang="en-US" sz="1500" dirty="0" err="1">
                <a:latin typeface="Proxima Nova Rg" panose="02000506030000020004" pitchFamily="2" charset="0"/>
              </a:rPr>
              <a:t>amet</a:t>
            </a:r>
            <a:r>
              <a:rPr lang="en-US" sz="1500" dirty="0">
                <a:latin typeface="Proxima Nova Rg" panose="02000506030000020004" pitchFamily="2" charset="0"/>
              </a:rPr>
              <a:t>, </a:t>
            </a:r>
            <a:r>
              <a:rPr lang="en-US" sz="1500" dirty="0" err="1">
                <a:latin typeface="Proxima Nova Rg" panose="02000506030000020004" pitchFamily="2" charset="0"/>
              </a:rPr>
              <a:t>consectetur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adipiscing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elit</a:t>
            </a:r>
            <a:r>
              <a:rPr lang="en-US" sz="1500" dirty="0">
                <a:latin typeface="Proxima Nova Rg" panose="02000506030000020004" pitchFamily="2" charset="0"/>
              </a:rPr>
              <a:t>. Duis fermentum </a:t>
            </a:r>
            <a:r>
              <a:rPr lang="en-US" sz="1500" dirty="0" err="1">
                <a:latin typeface="Proxima Nova Rg" panose="02000506030000020004" pitchFamily="2" charset="0"/>
              </a:rPr>
              <a:t>faucibus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est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blandit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elit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lobortis</a:t>
            </a:r>
            <a:r>
              <a:rPr lang="en-US" sz="1500" dirty="0">
                <a:latin typeface="Proxima Nova Rg" panose="02000506030000020004" pitchFamily="2" charset="0"/>
              </a:rPr>
              <a:t> non</a:t>
            </a:r>
            <a:r>
              <a:rPr lang="ru-RU" sz="1500" dirty="0">
                <a:latin typeface="Proxima Nova Rg" panose="02000506030000020004" pitchFamily="2" charset="0"/>
              </a:rPr>
              <a:t>.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>
                <a:latin typeface="Proxima Nova Rg" panose="02000506030000020004" pitchFamily="2" charset="0"/>
              </a:rPr>
              <a:t>Proin sed </a:t>
            </a:r>
            <a:r>
              <a:rPr lang="en-US" sz="1500" dirty="0" err="1">
                <a:latin typeface="Proxima Nova Rg" panose="02000506030000020004" pitchFamily="2" charset="0"/>
              </a:rPr>
              <a:t>porttitor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orci</a:t>
            </a:r>
            <a:r>
              <a:rPr lang="en-US" sz="1500" dirty="0">
                <a:latin typeface="Proxima Nova Rg" panose="02000506030000020004" pitchFamily="2" charset="0"/>
              </a:rPr>
              <a:t>. Maecenas </a:t>
            </a:r>
            <a:r>
              <a:rPr lang="en-US" sz="1500" dirty="0" err="1">
                <a:latin typeface="Proxima Nova Rg" panose="02000506030000020004" pitchFamily="2" charset="0"/>
              </a:rPr>
              <a:t>eu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urna</a:t>
            </a:r>
            <a:r>
              <a:rPr lang="en-US" sz="1500" dirty="0">
                <a:latin typeface="Proxima Nova Rg" panose="02000506030000020004" pitchFamily="2" charset="0"/>
              </a:rPr>
              <a:t> et </a:t>
            </a:r>
            <a:r>
              <a:rPr lang="en-US" sz="1500" dirty="0" err="1">
                <a:latin typeface="Proxima Nova Rg" panose="02000506030000020004" pitchFamily="2" charset="0"/>
              </a:rPr>
              <a:t>lacus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molestie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euismod</a:t>
            </a:r>
            <a:r>
              <a:rPr lang="en-US" sz="1500" dirty="0">
                <a:latin typeface="Proxima Nova Rg" panose="02000506030000020004" pitchFamily="2" charset="0"/>
              </a:rPr>
              <a:t> vel et </a:t>
            </a:r>
            <a:r>
              <a:rPr lang="en-US" sz="1500" dirty="0" err="1">
                <a:latin typeface="Proxima Nova Rg" panose="02000506030000020004" pitchFamily="2" charset="0"/>
              </a:rPr>
              <a:t>nibh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  <a:endParaRPr lang="ru-RU" sz="1500" dirty="0">
              <a:latin typeface="Proxima Nova Rg" panose="02000506030000020004" pitchFamily="2" charset="0"/>
            </a:endParaRP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 err="1">
                <a:latin typeface="Proxima Nova Rg" panose="02000506030000020004" pitchFamily="2" charset="0"/>
              </a:rPr>
              <a:t>Praesent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vehicula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dignissim</a:t>
            </a:r>
            <a:r>
              <a:rPr lang="en-US" sz="1500" dirty="0">
                <a:latin typeface="Proxima Nova Rg" panose="02000506030000020004" pitchFamily="2" charset="0"/>
              </a:rPr>
              <a:t> mi sed </a:t>
            </a:r>
            <a:r>
              <a:rPr lang="en-US" sz="1500" dirty="0" err="1">
                <a:latin typeface="Proxima Nova Rg" panose="02000506030000020004" pitchFamily="2" charset="0"/>
              </a:rPr>
              <a:t>augue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hendrerit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varius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mattis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  <a:endParaRPr lang="ru-RU" sz="1500" dirty="0">
              <a:latin typeface="Proxima Nova Rg" panose="02000506030000020004" pitchFamily="2" charset="0"/>
            </a:endParaRP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>
                <a:latin typeface="Proxima Nova Rg" panose="02000506030000020004" pitchFamily="2" charset="0"/>
              </a:rPr>
              <a:t>Lorem ipsum dolor sit </a:t>
            </a:r>
            <a:r>
              <a:rPr lang="en-US" sz="1500" dirty="0" err="1">
                <a:latin typeface="Proxima Nova Rg" panose="02000506030000020004" pitchFamily="2" charset="0"/>
              </a:rPr>
              <a:t>amet</a:t>
            </a:r>
            <a:r>
              <a:rPr lang="en-US" sz="1500" dirty="0">
                <a:latin typeface="Proxima Nova Rg" panose="02000506030000020004" pitchFamily="2" charset="0"/>
              </a:rPr>
              <a:t>, </a:t>
            </a:r>
            <a:r>
              <a:rPr lang="en-US" sz="1500" dirty="0" err="1">
                <a:latin typeface="Proxima Nova Rg" panose="02000506030000020004" pitchFamily="2" charset="0"/>
              </a:rPr>
              <a:t>consectetur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adipiscing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elit</a:t>
            </a:r>
            <a:r>
              <a:rPr lang="en-US" sz="1500" dirty="0">
                <a:latin typeface="Proxima Nova Rg" panose="02000506030000020004" pitchFamily="2" charset="0"/>
              </a:rPr>
              <a:t>. Duis fermentum </a:t>
            </a:r>
            <a:r>
              <a:rPr lang="en-US" sz="1500" dirty="0" err="1">
                <a:latin typeface="Proxima Nova Rg" panose="02000506030000020004" pitchFamily="2" charset="0"/>
              </a:rPr>
              <a:t>faucibus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est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blandit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elit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lobortis</a:t>
            </a:r>
            <a:r>
              <a:rPr lang="en-US" sz="1500" dirty="0">
                <a:latin typeface="Proxima Nova Rg" panose="02000506030000020004" pitchFamily="2" charset="0"/>
              </a:rPr>
              <a:t> non</a:t>
            </a:r>
            <a:r>
              <a:rPr lang="ru-RU" sz="1500" dirty="0">
                <a:latin typeface="Proxima Nova Rg" panose="02000506030000020004" pitchFamily="2" charset="0"/>
              </a:rPr>
              <a:t>.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>
                <a:latin typeface="Proxima Nova Rg" panose="02000506030000020004" pitchFamily="2" charset="0"/>
              </a:rPr>
              <a:t>Proin sed </a:t>
            </a:r>
            <a:r>
              <a:rPr lang="en-US" sz="1500" dirty="0" err="1">
                <a:latin typeface="Proxima Nova Rg" panose="02000506030000020004" pitchFamily="2" charset="0"/>
              </a:rPr>
              <a:t>porttitor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orci</a:t>
            </a:r>
            <a:r>
              <a:rPr lang="en-US" sz="1500" dirty="0">
                <a:latin typeface="Proxima Nova Rg" panose="02000506030000020004" pitchFamily="2" charset="0"/>
              </a:rPr>
              <a:t>. Maecenas </a:t>
            </a:r>
            <a:r>
              <a:rPr lang="en-US" sz="1500" dirty="0" err="1">
                <a:latin typeface="Proxima Nova Rg" panose="02000506030000020004" pitchFamily="2" charset="0"/>
              </a:rPr>
              <a:t>eu</a:t>
            </a:r>
            <a:r>
              <a:rPr lang="en-US" sz="1500" dirty="0">
                <a:latin typeface="Proxima Nova Rg" panose="02000506030000020004" pitchFamily="2" charset="0"/>
              </a:rPr>
              <a:t> et </a:t>
            </a:r>
            <a:r>
              <a:rPr lang="en-US" sz="1500" dirty="0" err="1">
                <a:latin typeface="Proxima Nova Rg" panose="02000506030000020004" pitchFamily="2" charset="0"/>
              </a:rPr>
              <a:t>lacus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molestie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euismod</a:t>
            </a:r>
            <a:r>
              <a:rPr lang="en-US" sz="1500" dirty="0">
                <a:latin typeface="Proxima Nova Rg" panose="02000506030000020004" pitchFamily="2" charset="0"/>
              </a:rPr>
              <a:t> vel et </a:t>
            </a:r>
            <a:r>
              <a:rPr lang="en-US" sz="1500" dirty="0" err="1">
                <a:latin typeface="Proxima Nova Rg" panose="02000506030000020004" pitchFamily="2" charset="0"/>
              </a:rPr>
              <a:t>nibh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 err="1">
                <a:latin typeface="Proxima Nova Rg" panose="02000506030000020004" pitchFamily="2" charset="0"/>
              </a:rPr>
              <a:t>Praesent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aliquam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vehicula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dignissim</a:t>
            </a:r>
            <a:r>
              <a:rPr lang="en-US" sz="1500" dirty="0">
                <a:latin typeface="Proxima Nova Rg" panose="02000506030000020004" pitchFamily="2" charset="0"/>
              </a:rPr>
              <a:t> mi sed </a:t>
            </a:r>
            <a:r>
              <a:rPr lang="en-US" sz="1500" dirty="0" err="1">
                <a:latin typeface="Proxima Nova Rg" panose="02000506030000020004" pitchFamily="2" charset="0"/>
              </a:rPr>
              <a:t>augue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hendrerit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varius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turpis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mattis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  <a:endParaRPr lang="ru-RU" sz="1500" dirty="0">
              <a:latin typeface="Proxima Nova Rg" panose="02000506030000020004" pitchFamily="2" charset="0"/>
            </a:endParaRP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en-US" sz="1500" dirty="0" err="1">
                <a:latin typeface="Proxima Nova Rg" panose="02000506030000020004" pitchFamily="2" charset="0"/>
              </a:rPr>
              <a:t>Praesent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aliquam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dignissim</a:t>
            </a:r>
            <a:r>
              <a:rPr lang="en-US" sz="1500" dirty="0">
                <a:latin typeface="Proxima Nova Rg" panose="02000506030000020004" pitchFamily="2" charset="0"/>
              </a:rPr>
              <a:t> mi sed </a:t>
            </a:r>
            <a:r>
              <a:rPr lang="en-US" sz="1500" dirty="0" err="1">
                <a:latin typeface="Proxima Nova Rg" panose="02000506030000020004" pitchFamily="2" charset="0"/>
              </a:rPr>
              <a:t>augue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hendrerit</a:t>
            </a:r>
            <a:r>
              <a:rPr lang="en-US" sz="1500" dirty="0">
                <a:latin typeface="Proxima Nova Rg" panose="02000506030000020004" pitchFamily="2" charset="0"/>
              </a:rPr>
              <a:t>, et </a:t>
            </a:r>
            <a:r>
              <a:rPr lang="en-US" sz="1500" dirty="0" err="1">
                <a:latin typeface="Proxima Nova Rg" panose="02000506030000020004" pitchFamily="2" charset="0"/>
              </a:rPr>
              <a:t>varius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turpis</a:t>
            </a:r>
            <a:r>
              <a:rPr lang="en-US" sz="1500" dirty="0">
                <a:latin typeface="Proxima Nova Rg" panose="02000506030000020004" pitchFamily="2" charset="0"/>
              </a:rPr>
              <a:t> </a:t>
            </a:r>
            <a:r>
              <a:rPr lang="en-US" sz="1500" dirty="0" err="1">
                <a:latin typeface="Proxima Nova Rg" panose="02000506030000020004" pitchFamily="2" charset="0"/>
              </a:rPr>
              <a:t>mattis</a:t>
            </a:r>
            <a:r>
              <a:rPr lang="en-US" sz="1500" dirty="0">
                <a:latin typeface="Proxima Nova Rg" panose="02000506030000020004" pitchFamily="2" charset="0"/>
              </a:rPr>
              <a:t>. </a:t>
            </a:r>
            <a:endParaRPr lang="ru-RU" sz="1350" dirty="0">
              <a:latin typeface="Futura PT Light"/>
            </a:endParaRPr>
          </a:p>
          <a:p>
            <a:pPr lvl="0"/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4FFCC7-9296-D445-8030-9EBDF8CBE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19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02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49" r:id="rId2"/>
    <p:sldLayoutId id="2147483660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320762-1B02-C8D4-7A59-902B0654D931}"/>
              </a:ext>
            </a:extLst>
          </p:cNvPr>
          <p:cNvSpPr txBox="1"/>
          <p:nvPr/>
        </p:nvSpPr>
        <p:spPr>
          <a:xfrm>
            <a:off x="578732" y="5393804"/>
            <a:ext cx="1871025" cy="848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40"/>
              </a:lnSpc>
            </a:pPr>
            <a:br>
              <a:rPr lang="ru-RU" sz="2200" b="1" dirty="0">
                <a:effectLst/>
                <a:latin typeface="Proxima Nova Semibold" panose="02000506030000020004" pitchFamily="2" charset="0"/>
              </a:rPr>
            </a:br>
            <a:r>
              <a:rPr lang="en-US" sz="2200" dirty="0">
                <a:solidFill>
                  <a:srgbClr val="E54F40"/>
                </a:solidFill>
                <a:effectLst/>
                <a:latin typeface="Proxima Nova Rg" panose="02000506030000020004" pitchFamily="2" charset="0"/>
              </a:rPr>
              <a:t>07</a:t>
            </a:r>
            <a:r>
              <a:rPr lang="ru-RU" sz="2200" dirty="0">
                <a:solidFill>
                  <a:srgbClr val="E54F40"/>
                </a:solidFill>
                <a:effectLst/>
                <a:latin typeface="Proxima Nova Rg" panose="02000506030000020004" pitchFamily="2" charset="0"/>
              </a:rPr>
              <a:t> </a:t>
            </a:r>
            <a:r>
              <a:rPr lang="ru-RU" sz="2200" dirty="0">
                <a:solidFill>
                  <a:srgbClr val="E54F40"/>
                </a:solidFill>
                <a:latin typeface="Proxima Nova Rg" panose="02000506030000020004" pitchFamily="2" charset="0"/>
              </a:rPr>
              <a:t>мая </a:t>
            </a:r>
            <a:r>
              <a:rPr lang="ru-RU" sz="2200" dirty="0">
                <a:solidFill>
                  <a:srgbClr val="E54F40"/>
                </a:solidFill>
                <a:effectLst/>
                <a:latin typeface="Proxima Nova Rg" panose="02000506030000020004" pitchFamily="2" charset="0"/>
              </a:rPr>
              <a:t>2026</a:t>
            </a:r>
            <a:endParaRPr lang="ru-RU" sz="2200" dirty="0">
              <a:solidFill>
                <a:srgbClr val="E54F40"/>
              </a:solidFill>
              <a:latin typeface="Proxima Nova Rg" panose="0200050603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D92E3-A5DE-5F5C-1C67-C6CAFFD3F1D5}"/>
              </a:ext>
            </a:extLst>
          </p:cNvPr>
          <p:cNvSpPr txBox="1"/>
          <p:nvPr/>
        </p:nvSpPr>
        <p:spPr>
          <a:xfrm>
            <a:off x="578732" y="696411"/>
            <a:ext cx="7176304" cy="120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40"/>
              </a:lnSpc>
            </a:pPr>
            <a:r>
              <a:rPr lang="ru-RU" sz="3600" dirty="0">
                <a:solidFill>
                  <a:srgbClr val="131313"/>
                </a:solidFill>
                <a:latin typeface="Roboto" panose="02000000000000000000" pitchFamily="2" charset="0"/>
              </a:rPr>
              <a:t>Разработка ядра</a:t>
            </a:r>
            <a:r>
              <a:rPr lang="en-US" sz="3600" dirty="0">
                <a:solidFill>
                  <a:srgbClr val="131313"/>
                </a:solidFill>
                <a:latin typeface="Roboto" panose="02000000000000000000" pitchFamily="2" charset="0"/>
              </a:rPr>
              <a:t> Radix-2</a:t>
            </a:r>
            <a:br>
              <a:rPr lang="es-419" sz="3600" dirty="0"/>
            </a:br>
            <a:endParaRPr lang="ru-RU" sz="3600" b="1" spc="100" dirty="0">
              <a:solidFill>
                <a:srgbClr val="E44F41"/>
              </a:solidFill>
              <a:latin typeface="Proxima Nova Extrabold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904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2" descr="Shape&#10;&#10;Description automatically generated">
            <a:extLst>
              <a:ext uri="{FF2B5EF4-FFF2-40B4-BE49-F238E27FC236}">
                <a16:creationId xmlns:a16="http://schemas.microsoft.com/office/drawing/2014/main" id="{A7E2EA92-7F16-A593-809E-DCE4C98FC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" name="Picture 16">
            <a:extLst>
              <a:ext uri="{FF2B5EF4-FFF2-40B4-BE49-F238E27FC236}">
                <a16:creationId xmlns:a16="http://schemas.microsoft.com/office/drawing/2014/main" id="{2011E1BA-F1F4-42EF-7BB5-0411528F77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40" b="27893"/>
          <a:stretch/>
        </p:blipFill>
        <p:spPr>
          <a:xfrm>
            <a:off x="673997" y="2328462"/>
            <a:ext cx="1872377" cy="1872377"/>
          </a:xfrm>
          <a:prstGeom prst="ellipse">
            <a:avLst/>
          </a:prstGeom>
          <a:ln>
            <a:noFill/>
          </a:ln>
          <a:effectLst/>
        </p:spPr>
      </p:pic>
      <p:sp>
        <p:nvSpPr>
          <p:cNvPr id="40" name="Текст 1">
            <a:extLst>
              <a:ext uri="{FF2B5EF4-FFF2-40B4-BE49-F238E27FC236}">
                <a16:creationId xmlns:a16="http://schemas.microsoft.com/office/drawing/2014/main" id="{DB361BA7-9294-C21A-F365-DBF236DD2660}"/>
              </a:ext>
            </a:extLst>
          </p:cNvPr>
          <p:cNvSpPr txBox="1">
            <a:spLocks/>
          </p:cNvSpPr>
          <p:nvPr/>
        </p:nvSpPr>
        <p:spPr>
          <a:xfrm>
            <a:off x="2911452" y="2545503"/>
            <a:ext cx="2710917" cy="5259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latin typeface="Proxima Nova Semibold" panose="02000506030000020004" pitchFamily="2" charset="0"/>
              </a:rPr>
              <a:t>Даниил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b="1" dirty="0">
                <a:latin typeface="Proxima Nova Semibold" panose="02000506030000020004" pitchFamily="2" charset="0"/>
              </a:rPr>
              <a:t>Симоновский</a:t>
            </a:r>
          </a:p>
        </p:txBody>
      </p:sp>
      <p:sp>
        <p:nvSpPr>
          <p:cNvPr id="41" name="Текст 2">
            <a:extLst>
              <a:ext uri="{FF2B5EF4-FFF2-40B4-BE49-F238E27FC236}">
                <a16:creationId xmlns:a16="http://schemas.microsoft.com/office/drawing/2014/main" id="{19211362-9267-511D-C95E-19EDEA48641F}"/>
              </a:ext>
            </a:extLst>
          </p:cNvPr>
          <p:cNvSpPr txBox="1">
            <a:spLocks/>
          </p:cNvSpPr>
          <p:nvPr/>
        </p:nvSpPr>
        <p:spPr>
          <a:xfrm>
            <a:off x="2911453" y="3309191"/>
            <a:ext cx="2501199" cy="7057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200" dirty="0">
                <a:solidFill>
                  <a:srgbClr val="E54F40"/>
                </a:solidFill>
                <a:latin typeface="Proxima Nova Rg" panose="02000506030000020004" pitchFamily="2" charset="0"/>
              </a:rPr>
              <a:t>Студент ИТМО</a:t>
            </a:r>
          </a:p>
        </p:txBody>
      </p:sp>
      <p:pic>
        <p:nvPicPr>
          <p:cNvPr id="43" name="Picture 20">
            <a:extLst>
              <a:ext uri="{FF2B5EF4-FFF2-40B4-BE49-F238E27FC236}">
                <a16:creationId xmlns:a16="http://schemas.microsoft.com/office/drawing/2014/main" id="{7BE82686-CFF2-37AC-9940-2A8576F29E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69631" y="2328462"/>
            <a:ext cx="1872377" cy="1872377"/>
          </a:xfrm>
          <a:prstGeom prst="ellipse">
            <a:avLst/>
          </a:prstGeom>
          <a:ln>
            <a:noFill/>
          </a:ln>
          <a:effectLst/>
        </p:spPr>
      </p:pic>
      <p:sp>
        <p:nvSpPr>
          <p:cNvPr id="44" name="Текст 1">
            <a:extLst>
              <a:ext uri="{FF2B5EF4-FFF2-40B4-BE49-F238E27FC236}">
                <a16:creationId xmlns:a16="http://schemas.microsoft.com/office/drawing/2014/main" id="{EC6CF7A4-EC66-BB27-F05A-1AB06EDEB685}"/>
              </a:ext>
            </a:extLst>
          </p:cNvPr>
          <p:cNvSpPr txBox="1">
            <a:spLocks/>
          </p:cNvSpPr>
          <p:nvPr/>
        </p:nvSpPr>
        <p:spPr>
          <a:xfrm>
            <a:off x="8807087" y="2545503"/>
            <a:ext cx="2618150" cy="52590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Кристина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Тельнова </a:t>
            </a:r>
          </a:p>
        </p:txBody>
      </p:sp>
      <p:sp>
        <p:nvSpPr>
          <p:cNvPr id="45" name="Текст 2">
            <a:extLst>
              <a:ext uri="{FF2B5EF4-FFF2-40B4-BE49-F238E27FC236}">
                <a16:creationId xmlns:a16="http://schemas.microsoft.com/office/drawing/2014/main" id="{1F8C3447-5EB7-36CD-9C96-84DFB4782622}"/>
              </a:ext>
            </a:extLst>
          </p:cNvPr>
          <p:cNvSpPr txBox="1">
            <a:spLocks/>
          </p:cNvSpPr>
          <p:nvPr/>
        </p:nvSpPr>
        <p:spPr>
          <a:xfrm>
            <a:off x="8807087" y="3309191"/>
            <a:ext cx="2618151" cy="7057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i="0" kern="1200">
                <a:solidFill>
                  <a:srgbClr val="E44F4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solidFill>
                  <a:srgbClr val="E54F40"/>
                </a:solidFill>
                <a:latin typeface="Proxima Nova Rg" panose="02000506030000020004" pitchFamily="2" charset="0"/>
              </a:rPr>
              <a:t>Наставник от </a:t>
            </a:r>
            <a:r>
              <a:rPr lang="en-US" b="0" dirty="0">
                <a:solidFill>
                  <a:srgbClr val="E54F40"/>
                </a:solidFill>
                <a:latin typeface="Proxima Nova Rg" panose="02000506030000020004" pitchFamily="2" charset="0"/>
              </a:rPr>
              <a:t>YADRO</a:t>
            </a:r>
            <a:endParaRPr lang="ru-RU" b="0" dirty="0">
              <a:solidFill>
                <a:srgbClr val="E54F40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17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FB9289-9297-9BEF-9359-4C74DBFDCA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ru-RU" dirty="0"/>
              <a:t>Цель</a:t>
            </a:r>
            <a:r>
              <a:rPr lang="en-US" dirty="0"/>
              <a:t>: </a:t>
            </a:r>
            <a:r>
              <a:rPr lang="ru-RU" dirty="0"/>
              <a:t>Изучить и разработать ядро </a:t>
            </a:r>
            <a:r>
              <a:rPr lang="en-US" dirty="0"/>
              <a:t>Radix-2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ru-RU" dirty="0"/>
              <a:t>Децимация по времени.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ru-RU" dirty="0"/>
              <a:t>Разрядность входных данных </a:t>
            </a:r>
            <a:r>
              <a:rPr lang="en-US" dirty="0"/>
              <a:t>Q16.0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ru-RU" dirty="0"/>
              <a:t>Разрядность поворачивающих коэффициентов </a:t>
            </a:r>
            <a:r>
              <a:rPr lang="en-US" dirty="0"/>
              <a:t>Q2.14</a:t>
            </a:r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34B9296-CEAD-CE6F-174A-0A476ACFD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238259" y="1495107"/>
            <a:ext cx="5867482" cy="486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49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Умножение комплексных чисел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FB9289-9297-9BEF-9359-4C74DBFDCA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000" y="5889522"/>
            <a:ext cx="10059020" cy="727587"/>
          </a:xfrm>
        </p:spPr>
        <p:txBody>
          <a:bodyPr anchor="b"/>
          <a:lstStyle/>
          <a:p>
            <a:pPr>
              <a:lnSpc>
                <a:spcPts val="2200"/>
              </a:lnSpc>
              <a:spcAft>
                <a:spcPts val="900"/>
              </a:spcAft>
              <a:buSzPct val="70000"/>
            </a:pPr>
            <a:r>
              <a:rPr lang="ru-RU" dirty="0"/>
              <a:t>Статья</a:t>
            </a:r>
            <a:r>
              <a:rPr lang="en-US" dirty="0"/>
              <a:t>: https://fpga-systems.ru/articles/131/iotbcotdspcm.pdf</a:t>
            </a:r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DF5815-6514-43DC-37D9-7E0CAD57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44" y="1739414"/>
            <a:ext cx="3729231" cy="43409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C02C5B-78CC-D651-6056-62AE79F0BEF4}"/>
                  </a:ext>
                </a:extLst>
              </p:cNvPr>
              <p:cNvSpPr txBox="1"/>
              <p:nvPr/>
            </p:nvSpPr>
            <p:spPr>
              <a:xfrm>
                <a:off x="742909" y="2370938"/>
                <a:ext cx="7145226" cy="15389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𝑗𝑎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𝑗𝑐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𝑗𝑎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br>
                  <a:rPr lang="en-US" sz="2000" b="0" dirty="0">
                    <a:ea typeface="Cambria Math" panose="02040503050406030204" pitchFamily="18" charset="0"/>
                  </a:rPr>
                </a:br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C02C5B-78CC-D651-6056-62AE79F0B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09" y="2370938"/>
                <a:ext cx="7145226" cy="1538947"/>
              </a:xfrm>
              <a:prstGeom prst="rect">
                <a:avLst/>
              </a:prstGeom>
              <a:blipFill>
                <a:blip r:embed="rId4"/>
                <a:stretch>
                  <a:fillRect b="-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352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Умножение комплексных чисел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C02C5B-78CC-D651-6056-62AE79F0BEF4}"/>
                  </a:ext>
                </a:extLst>
              </p:cNvPr>
              <p:cNvSpPr txBox="1"/>
              <p:nvPr/>
            </p:nvSpPr>
            <p:spPr>
              <a:xfrm>
                <a:off x="742909" y="2370938"/>
                <a:ext cx="6296988" cy="30777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b="0" dirty="0">
                  <a:ea typeface="Cambria Math" panose="02040503050406030204" pitchFamily="18" charset="0"/>
                </a:endParaRPr>
              </a:p>
              <a:p>
                <a:br>
                  <a:rPr lang="en-US" sz="2000" b="0" dirty="0">
                    <a:ea typeface="Cambria Math" panose="02040503050406030204" pitchFamily="18" charset="0"/>
                  </a:rPr>
                </a:br>
                <a:endParaRPr lang="en-US" sz="20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C02C5B-78CC-D651-6056-62AE79F0B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09" y="2370938"/>
                <a:ext cx="6296988" cy="3077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FAE6EF6-9FD9-7551-BFD4-23396A519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440" y="1980752"/>
            <a:ext cx="4762835" cy="3858266"/>
          </a:xfrm>
          <a:prstGeom prst="rect">
            <a:avLst/>
          </a:prstGeom>
        </p:spPr>
      </p:pic>
      <p:sp>
        <p:nvSpPr>
          <p:cNvPr id="11" name="Текст 3">
            <a:extLst>
              <a:ext uri="{FF2B5EF4-FFF2-40B4-BE49-F238E27FC236}">
                <a16:creationId xmlns:a16="http://schemas.microsoft.com/office/drawing/2014/main" id="{C97D9E30-886C-286C-48C6-01694F6E0476}"/>
              </a:ext>
            </a:extLst>
          </p:cNvPr>
          <p:cNvSpPr txBox="1">
            <a:spLocks/>
          </p:cNvSpPr>
          <p:nvPr/>
        </p:nvSpPr>
        <p:spPr>
          <a:xfrm>
            <a:off x="635000" y="5889522"/>
            <a:ext cx="10059020" cy="72758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00"/>
              </a:lnSpc>
              <a:spcAft>
                <a:spcPts val="900"/>
              </a:spcAft>
              <a:buSzPct val="70000"/>
            </a:pPr>
            <a:r>
              <a:rPr lang="ru-RU"/>
              <a:t>Статья</a:t>
            </a:r>
            <a:r>
              <a:rPr lang="en-US"/>
              <a:t>: https://fpga-systems.ru/articles/131/iotbcotdspcm.pdf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490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Умножение комплексных чисел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FAE6EF6-9FD9-7551-BFD4-23396A519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440" y="1980752"/>
            <a:ext cx="4762835" cy="385826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2FCD8A-1BB8-FF50-31CB-354FBFEA7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330" y="1650924"/>
            <a:ext cx="3729231" cy="4340942"/>
          </a:xfrm>
          <a:prstGeom prst="rect">
            <a:avLst/>
          </a:prstGeom>
        </p:spPr>
      </p:pic>
      <p:sp>
        <p:nvSpPr>
          <p:cNvPr id="5" name="Текст 3">
            <a:extLst>
              <a:ext uri="{FF2B5EF4-FFF2-40B4-BE49-F238E27FC236}">
                <a16:creationId xmlns:a16="http://schemas.microsoft.com/office/drawing/2014/main" id="{CB06CAC6-0F9D-4C66-10F9-09F3156EDAFA}"/>
              </a:ext>
            </a:extLst>
          </p:cNvPr>
          <p:cNvSpPr txBox="1">
            <a:spLocks/>
          </p:cNvSpPr>
          <p:nvPr/>
        </p:nvSpPr>
        <p:spPr>
          <a:xfrm>
            <a:off x="635000" y="5889522"/>
            <a:ext cx="10059020" cy="72758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00"/>
              </a:lnSpc>
              <a:spcAft>
                <a:spcPts val="900"/>
              </a:spcAft>
              <a:buSzPct val="70000"/>
            </a:pPr>
            <a:r>
              <a:rPr lang="ru-RU"/>
              <a:t>Статья</a:t>
            </a:r>
            <a:r>
              <a:rPr lang="en-US"/>
              <a:t>: https://fpga-systems.ru/articles/131/iotbcotdspcm.pdf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000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DSP </a:t>
            </a:r>
            <a:r>
              <a:rPr lang="ru-RU" dirty="0"/>
              <a:t>блок </a:t>
            </a:r>
            <a:r>
              <a:rPr lang="en-US" dirty="0"/>
              <a:t>DSP48E2</a:t>
            </a:r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sp>
        <p:nvSpPr>
          <p:cNvPr id="5" name="Текст 3">
            <a:extLst>
              <a:ext uri="{FF2B5EF4-FFF2-40B4-BE49-F238E27FC236}">
                <a16:creationId xmlns:a16="http://schemas.microsoft.com/office/drawing/2014/main" id="{CB06CAC6-0F9D-4C66-10F9-09F3156EDAFA}"/>
              </a:ext>
            </a:extLst>
          </p:cNvPr>
          <p:cNvSpPr txBox="1">
            <a:spLocks/>
          </p:cNvSpPr>
          <p:nvPr/>
        </p:nvSpPr>
        <p:spPr>
          <a:xfrm>
            <a:off x="635000" y="5889522"/>
            <a:ext cx="10059020" cy="72758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00"/>
              </a:lnSpc>
              <a:spcAft>
                <a:spcPts val="900"/>
              </a:spcAft>
              <a:buSzPct val="70000"/>
            </a:pPr>
            <a:r>
              <a:rPr lang="ru-RU" dirty="0"/>
              <a:t>Документация</a:t>
            </a:r>
            <a:r>
              <a:rPr lang="en-US" dirty="0"/>
              <a:t>: https://docs.amd.com/v/u/en-US/ug579-ultrascale-dsp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9C2870-8ED4-6D6A-8A87-5A356686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625" y="1806574"/>
            <a:ext cx="9316750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09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Умножение комплексных чисел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sp>
        <p:nvSpPr>
          <p:cNvPr id="5" name="Текст 3">
            <a:extLst>
              <a:ext uri="{FF2B5EF4-FFF2-40B4-BE49-F238E27FC236}">
                <a16:creationId xmlns:a16="http://schemas.microsoft.com/office/drawing/2014/main" id="{CB06CAC6-0F9D-4C66-10F9-09F3156EDAFA}"/>
              </a:ext>
            </a:extLst>
          </p:cNvPr>
          <p:cNvSpPr txBox="1">
            <a:spLocks/>
          </p:cNvSpPr>
          <p:nvPr/>
        </p:nvSpPr>
        <p:spPr>
          <a:xfrm>
            <a:off x="635000" y="5889522"/>
            <a:ext cx="10059020" cy="72758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00"/>
              </a:lnSpc>
              <a:spcAft>
                <a:spcPts val="900"/>
              </a:spcAft>
              <a:buSzPct val="70000"/>
            </a:pPr>
            <a:r>
              <a:rPr lang="ru-RU"/>
              <a:t>Статья</a:t>
            </a:r>
            <a:r>
              <a:rPr lang="en-US"/>
              <a:t>: https://fpga-systems.ru/articles/131/iotbcotdspcm.pdf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6E709F-DE05-300C-5631-ED551359A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57" y="1384181"/>
            <a:ext cx="5059443" cy="47262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3C0C3EA-1F61-FE15-9C56-2A0A7E1D5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557" y="1320196"/>
            <a:ext cx="5394575" cy="479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8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Умножение комплексных чисел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63A53F1-2F0A-3912-900A-27648625B9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29032" y="1324544"/>
            <a:ext cx="9733935" cy="537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3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Операция бабочка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4FA7733-68D7-C656-1EEE-4930C50DA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6931" y="1881571"/>
            <a:ext cx="8534114" cy="341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66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Операция бабочка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FEC4C05-1FC0-9CFD-9BB0-DC1A051EBD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910"/>
          <a:stretch/>
        </p:blipFill>
        <p:spPr>
          <a:xfrm>
            <a:off x="200267" y="1881571"/>
            <a:ext cx="10712924" cy="3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43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Операция бабочка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BB2B441-7639-FC55-E76B-FBB31637F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384" y="988083"/>
            <a:ext cx="11016601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34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FFT </a:t>
            </a:r>
            <a:r>
              <a:rPr lang="ru-RU" dirty="0"/>
              <a:t>– многостадийное преобразование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DF5265-BAEA-F341-D49C-4DA586EA38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8557" y="1380318"/>
            <a:ext cx="8414886" cy="525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35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Округление к ближайшему четному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sp>
        <p:nvSpPr>
          <p:cNvPr id="5" name="Текст 3">
            <a:extLst>
              <a:ext uri="{FF2B5EF4-FFF2-40B4-BE49-F238E27FC236}">
                <a16:creationId xmlns:a16="http://schemas.microsoft.com/office/drawing/2014/main" id="{CB06CAC6-0F9D-4C66-10F9-09F3156EDAFA}"/>
              </a:ext>
            </a:extLst>
          </p:cNvPr>
          <p:cNvSpPr txBox="1">
            <a:spLocks/>
          </p:cNvSpPr>
          <p:nvPr/>
        </p:nvSpPr>
        <p:spPr>
          <a:xfrm>
            <a:off x="635000" y="5889522"/>
            <a:ext cx="10059020" cy="727587"/>
          </a:xfrm>
          <a:prstGeom prst="rect">
            <a:avLst/>
          </a:prstGeom>
        </p:spPr>
        <p:txBody>
          <a:bodyPr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chemeClr val="tx1"/>
                </a:solidFill>
                <a:latin typeface="Proxima Nova Rg" panose="02000506030000020004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Блог</a:t>
            </a:r>
            <a:r>
              <a:rPr lang="en-US" dirty="0"/>
              <a:t>: https://shultais.education/blog/banking-rounding</a:t>
            </a:r>
            <a:endParaRPr lang="ru-RU" dirty="0"/>
          </a:p>
        </p:txBody>
      </p:sp>
      <p:pic>
        <p:nvPicPr>
          <p:cNvPr id="2" name="Picture 2" descr="Правила калссического округления">
            <a:extLst>
              <a:ext uri="{FF2B5EF4-FFF2-40B4-BE49-F238E27FC236}">
                <a16:creationId xmlns:a16="http://schemas.microsoft.com/office/drawing/2014/main" id="{5C496B99-4045-389D-CD9A-9AE7B4824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50" y="1255877"/>
            <a:ext cx="8014500" cy="187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Банковское округление в действии">
            <a:extLst>
              <a:ext uri="{FF2B5EF4-FFF2-40B4-BE49-F238E27FC236}">
                <a16:creationId xmlns:a16="http://schemas.microsoft.com/office/drawing/2014/main" id="{2E8FA623-572A-1504-0ABF-4586A8041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51" y="3252454"/>
            <a:ext cx="8014499" cy="295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478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Операция бабочка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DE5E90-207D-65B3-D7EA-CFC8C440B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4564" y="1756065"/>
            <a:ext cx="6307387" cy="467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098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Операция бабочка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A3693D-45A6-8C4F-92E3-5FEB4F99B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4564" y="1758292"/>
            <a:ext cx="10289801" cy="467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16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Модель операции бабочка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4456AA-72A1-BCF1-5B65-332FD016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64" y="1210095"/>
            <a:ext cx="10870164" cy="543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82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Дополнительное задание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FB9289-9297-9BEF-9359-4C74DBFDCA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ru-RU" dirty="0"/>
              <a:t>64 точечный Фурье (6 стадий)</a:t>
            </a:r>
            <a:endParaRPr lang="en-US" dirty="0"/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ru-RU" dirty="0"/>
              <a:t>Децимация по времени.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ru-RU" dirty="0"/>
              <a:t>Временное мультиплексирование</a:t>
            </a:r>
          </a:p>
          <a:p>
            <a:pPr marL="285750" indent="-285750">
              <a:lnSpc>
                <a:spcPts val="2200"/>
              </a:lnSpc>
              <a:spcAft>
                <a:spcPts val="900"/>
              </a:spcAft>
              <a:buSzPct val="70000"/>
              <a:buFont typeface="Wingdings" pitchFamily="2" charset="2"/>
              <a:buChar char="§"/>
            </a:pPr>
            <a:r>
              <a:rPr lang="ru-RU" dirty="0"/>
              <a:t>Блочная обработка </a:t>
            </a:r>
            <a:r>
              <a:rPr lang="en-US" dirty="0"/>
              <a:t>FFT</a:t>
            </a:r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5D2A35-F129-B81E-2DE3-6A9F345459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3508" y="1739414"/>
            <a:ext cx="7081767" cy="441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82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Модель полного Фурье на 64 точки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4456AA-72A1-BCF1-5B65-332FD016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564" y="1661207"/>
            <a:ext cx="10870164" cy="453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45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Полный Фурье на 64 точки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1DFE26-7880-12E1-C968-C9471D492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22" y="1320196"/>
            <a:ext cx="9614955" cy="539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43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Результаты синтеза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ru-RU" sz="2800" dirty="0">
                <a:latin typeface="Proxima Nova Rg" panose="02000506030000020004" pitchFamily="2" charset="0"/>
              </a:rPr>
              <a:t>xcku025-ffva1156-2-</a:t>
            </a:r>
            <a:r>
              <a:rPr lang="en-US" sz="2800" dirty="0">
                <a:latin typeface="Proxima Nova Rg" panose="02000506030000020004" pitchFamily="2" charset="0"/>
              </a:rPr>
              <a:t>e</a:t>
            </a:r>
            <a:endParaRPr lang="ru-RU" sz="2800" dirty="0">
              <a:latin typeface="Proxima Nova Rg" panose="020005060300000200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2FE676-3005-19F5-D173-1A2A09E96915}"/>
              </a:ext>
            </a:extLst>
          </p:cNvPr>
          <p:cNvSpPr txBox="1"/>
          <p:nvPr/>
        </p:nvSpPr>
        <p:spPr>
          <a:xfrm>
            <a:off x="634564" y="1301940"/>
            <a:ext cx="9311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create_clock</a:t>
            </a:r>
            <a:r>
              <a:rPr lang="en-US" sz="14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-period</a:t>
            </a:r>
            <a:r>
              <a:rPr lang="en-US" sz="14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4.000</a:t>
            </a:r>
            <a:r>
              <a:rPr lang="en-US" sz="14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-name</a:t>
            </a:r>
            <a:r>
              <a:rPr lang="en-US" sz="14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clock </a:t>
            </a:r>
            <a:r>
              <a:rPr lang="en-US" sz="1400" b="1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-waveform</a:t>
            </a:r>
            <a:r>
              <a:rPr lang="en-US" sz="14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0.000</a:t>
            </a:r>
            <a:r>
              <a:rPr lang="en-US" sz="1400" b="1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2.000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1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get_ports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clk</a:t>
            </a:r>
            <a:r>
              <a:rPr lang="en-US" sz="1400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  <a:endParaRPr lang="en-US" sz="1400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AD78E1-8175-6AD7-FA99-0557BA195AEA}"/>
                  </a:ext>
                </a:extLst>
              </p:cNvPr>
              <p:cNvSpPr txBox="1"/>
              <p:nvPr/>
            </p:nvSpPr>
            <p:spPr>
              <a:xfrm>
                <a:off x="662359" y="3495438"/>
                <a:ext cx="17050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МГц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AD78E1-8175-6AD7-FA99-0557BA195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59" y="3495438"/>
                <a:ext cx="1705019" cy="276999"/>
              </a:xfrm>
              <a:prstGeom prst="rect">
                <a:avLst/>
              </a:prstGeom>
              <a:blipFill>
                <a:blip r:embed="rId4"/>
                <a:stretch>
                  <a:fillRect l="-2867" r="-4301" b="-260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4ED84D5-A8C5-3B0E-8C91-D3906679D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34" y="1628770"/>
            <a:ext cx="9669224" cy="173379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E33AC13-16B4-2F4C-CB89-2709A60EE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70" y="4002466"/>
            <a:ext cx="6068272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48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50ECD60-6A6C-EC54-EC11-2F1474F422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DPI-C</a:t>
            </a:r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441" y="498659"/>
            <a:ext cx="2782834" cy="632778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04456AA-72A1-BCF1-5B65-332FD016FB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1640" y="1661207"/>
            <a:ext cx="10396011" cy="453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44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CE107C8-1165-7065-7DAA-59D440DE7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403" y="3267112"/>
            <a:ext cx="7176305" cy="323775"/>
          </a:xfrm>
        </p:spPr>
        <p:txBody>
          <a:bodyPr/>
          <a:lstStyle/>
          <a:p>
            <a:pPr algn="ctr"/>
            <a:r>
              <a:rPr lang="ru-RU" dirty="0"/>
              <a:t>Время вопросов</a:t>
            </a:r>
          </a:p>
        </p:txBody>
      </p:sp>
    </p:spTree>
    <p:extLst>
      <p:ext uri="{BB962C8B-B14F-4D97-AF65-F5344CB8AC3E}">
        <p14:creationId xmlns:p14="http://schemas.microsoft.com/office/powerpoint/2010/main" val="1325334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CE107C8-1165-7065-7DAA-59D440DE7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403" y="3267112"/>
            <a:ext cx="7176305" cy="323775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166083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Текст 5">
                <a:extLst>
                  <a:ext uri="{FF2B5EF4-FFF2-40B4-BE49-F238E27FC236}">
                    <a16:creationId xmlns:a16="http://schemas.microsoft.com/office/drawing/2014/main" id="{073F2CAC-A8B1-DB5D-A7F7-8900C982407B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5426495" y="1493608"/>
                <a:ext cx="6473723" cy="3568565"/>
              </a:xfrm>
            </p:spPr>
            <p:txBody>
              <a:bodyPr/>
              <a:lstStyle/>
              <a:p>
                <a:r>
                  <a:rPr lang="ru-RU" dirty="0"/>
                  <a:t>Полная шкала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−1=32767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r>
                            <a:rPr lang="en-US"/>
                            <m:t>𝑃</m:t>
                          </m:r>
                        </m:e>
                        <m:sub>
                          <m:r>
                            <a:rPr lang="en-US"/>
                            <m:t>𝐹𝑆</m:t>
                          </m:r>
                        </m:sub>
                      </m:sSub>
                      <m:r>
                        <a:rPr lang="ru-RU"/>
                        <m:t>(</m:t>
                      </m:r>
                      <m:r>
                        <m:rPr>
                          <m:nor/>
                        </m:rPr>
                        <a:rPr lang="en-US"/>
                        <m:t>Full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Scale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Power</m:t>
                      </m:r>
                      <m:r>
                        <a:rPr lang="ru-RU"/>
                        <m:t>)</m:t>
                      </m:r>
                      <m:r>
                        <a:rPr lang="en-US"/>
                        <m:t>=2∗</m:t>
                      </m:r>
                      <m:sSup>
                        <m:sSupPr>
                          <m:ctrlPr>
                            <a:rPr lang="en-US"/>
                          </m:ctrlPr>
                        </m:sSupPr>
                        <m:e>
                          <m:r>
                            <a:rPr lang="en-US"/>
                            <m:t>𝑚𝑎𝑥</m:t>
                          </m:r>
                        </m:e>
                        <m:sup>
                          <m:r>
                            <a:rPr lang="en-US"/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Коэффициент </a:t>
                </a:r>
                <a:r>
                  <a:rPr lang="en-US" dirty="0"/>
                  <a:t>backoff: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:r>
                  <a:rPr lang="ru-RU" dirty="0"/>
                  <a:t>Масштаб входного сигнала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𝑠𝑐𝑎𝑙𝑒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𝑠𝑞𝑟𝑡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𝐹𝑆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𝑠𝑐𝑎𝑙𝑒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𝑠𝑞𝑟𝑡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:r>
                  <a:rPr lang="ru-RU" dirty="0"/>
                  <a:t>Генерация входных отсчетов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𝑟𝑒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𝑐𝑙𝑖𝑝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[−1,1] ∗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𝑠𝑐𝑎𝑙𝑒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𝑖𝑚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𝑐𝑙𝑖𝑝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[−1,1] ∗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𝑠𝑐𝑎𝑙𝑒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Текст 5">
                <a:extLst>
                  <a:ext uri="{FF2B5EF4-FFF2-40B4-BE49-F238E27FC236}">
                    <a16:creationId xmlns:a16="http://schemas.microsoft.com/office/drawing/2014/main" id="{073F2CAC-A8B1-DB5D-A7F7-8900C9824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5426495" y="1493608"/>
                <a:ext cx="6473723" cy="3568565"/>
              </a:xfrm>
              <a:blipFill>
                <a:blip r:embed="rId2"/>
                <a:stretch>
                  <a:fillRect l="-377" t="-8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106" y="507362"/>
            <a:ext cx="2782834" cy="63277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7C5C8C9-A93D-0EBB-67EC-DB623E91B1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диаграмма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769F4DB-6CAA-2D7D-7395-0C73DAA35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98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Текст 5">
                <a:extLst>
                  <a:ext uri="{FF2B5EF4-FFF2-40B4-BE49-F238E27FC236}">
                    <a16:creationId xmlns:a16="http://schemas.microsoft.com/office/drawing/2014/main" id="{073F2CAC-A8B1-DB5D-A7F7-8900C982407B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5426495" y="1493608"/>
                <a:ext cx="6473723" cy="3568565"/>
              </a:xfrm>
            </p:spPr>
            <p:txBody>
              <a:bodyPr/>
              <a:lstStyle/>
              <a:p>
                <a:r>
                  <a:rPr lang="ru-RU" dirty="0"/>
                  <a:t>Мощность сигнала</a:t>
                </a:r>
                <a:r>
                  <a:rPr lang="en-US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𝑠𝑖𝑔𝑛𝑎𝑙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Мощность шума</a:t>
                </a:r>
                <a:r>
                  <a:rPr lang="en-US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SQNR: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𝑆𝑄𝑁𝑅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=10∗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𝑠𝑖𝑔𝑛𝑎𝑙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𝑛𝑜𝑖𝑠𝑒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6" name="Текст 5">
                <a:extLst>
                  <a:ext uri="{FF2B5EF4-FFF2-40B4-BE49-F238E27FC236}">
                    <a16:creationId xmlns:a16="http://schemas.microsoft.com/office/drawing/2014/main" id="{073F2CAC-A8B1-DB5D-A7F7-8900C9824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5426495" y="1493608"/>
                <a:ext cx="6473723" cy="3568565"/>
              </a:xfrm>
              <a:blipFill>
                <a:blip r:embed="rId2"/>
                <a:stretch>
                  <a:fillRect l="-377" t="-17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2E472F-A0A8-7844-B1C9-D591E833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106" y="507362"/>
            <a:ext cx="2782834" cy="63277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7C5C8C9-A93D-0EBB-67EC-DB623E91B1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16322BC-3F71-295E-1E53-B2455D304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105" y="348614"/>
            <a:ext cx="513840" cy="789378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A052014-E87F-CF3A-4A0E-B9BC0DA0F734}"/>
              </a:ext>
            </a:extLst>
          </p:cNvPr>
          <p:cNvSpPr/>
          <p:nvPr/>
        </p:nvSpPr>
        <p:spPr>
          <a:xfrm>
            <a:off x="2219325" y="5490210"/>
            <a:ext cx="680085" cy="607695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236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9935</TotalTime>
  <Words>452</Words>
  <Application>Microsoft Office PowerPoint</Application>
  <PresentationFormat>Широкоэкранный</PresentationFormat>
  <Paragraphs>89</Paragraphs>
  <Slides>26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9" baseType="lpstr">
      <vt:lpstr>Proxima Nova Extrabold</vt:lpstr>
      <vt:lpstr>Wingdings</vt:lpstr>
      <vt:lpstr>Proxima Nova Rg</vt:lpstr>
      <vt:lpstr>Cambria Math</vt:lpstr>
      <vt:lpstr>Futura PT Book</vt:lpstr>
      <vt:lpstr>Consolas</vt:lpstr>
      <vt:lpstr>Arial</vt:lpstr>
      <vt:lpstr>Proxima Nova Semibold</vt:lpstr>
      <vt:lpstr>Calibri</vt:lpstr>
      <vt:lpstr>Proxima Nova Extrabold</vt:lpstr>
      <vt:lpstr>Roboto</vt:lpstr>
      <vt:lpstr>Futura PT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Даниил Симоновский</cp:lastModifiedBy>
  <cp:revision>93</cp:revision>
  <dcterms:created xsi:type="dcterms:W3CDTF">2022-09-02T11:18:13Z</dcterms:created>
  <dcterms:modified xsi:type="dcterms:W3CDTF">2026-05-02T22:45:29Z</dcterms:modified>
</cp:coreProperties>
</file>